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QEnv51P3LOB4v1TubL3jc7m+I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03B61D-0873-4579-B5E7-00D1F80F27E1}">
  <a:tblStyle styleId="{0803B61D-0873-4579-B5E7-00D1F80F27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4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24125" y="945875"/>
            <a:ext cx="7219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E-commerce 고객 데이터 분석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728362" y="2155488"/>
            <a:ext cx="368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962FF"/>
                </a:solidFill>
                <a:latin typeface="Arial"/>
                <a:ea typeface="Arial"/>
                <a:cs typeface="Arial"/>
                <a:sym typeface="Arial"/>
              </a:rPr>
              <a:t>서비스 성장성과 내실 파악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2614849" y="3252066"/>
            <a:ext cx="3657600" cy="1371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764173" y="3388807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📊 데이터: E-commerce - UK Retailer (Kaggle)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🎯 목적: 비즈니스 개선 제안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🛠 도구: Excel, BigQuery, Python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6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31520" y="565099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분석 목표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731520" y="1205179"/>
            <a:ext cx="1371600" cy="4572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31520" y="1479499"/>
            <a:ext cx="768096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r>
              <a:rPr lang="en-US" sz="2000" b="0" i="0" u="none" strike="noStrike" cap="none" dirty="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성장</a:t>
            </a:r>
            <a:r>
              <a:rPr lang="ko-KR" altLang="en-US" sz="2000" b="0" i="0" u="none" strike="noStrike" cap="none" dirty="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성</a:t>
            </a:r>
            <a:r>
              <a:rPr lang="en-US" altLang="ko-KR" sz="2000" b="0" i="0" u="none" strike="noStrike" cap="none" dirty="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000" b="0" i="0" u="none" strike="noStrike" cap="none" dirty="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내실성</a:t>
            </a:r>
            <a:r>
              <a:rPr lang="en-US" sz="2000" b="0" i="0" u="none" strike="noStrike" cap="none" dirty="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점검</a:t>
            </a:r>
            <a:endParaRPr dirty="0"/>
          </a:p>
        </p:txBody>
      </p:sp>
      <p:sp>
        <p:nvSpPr>
          <p:cNvPr id="98" name="Google Shape;98;p2"/>
          <p:cNvSpPr/>
          <p:nvPr/>
        </p:nvSpPr>
        <p:spPr>
          <a:xfrm>
            <a:off x="1097280" y="2211019"/>
            <a:ext cx="7315200" cy="822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25400" cap="flat" cmpd="sng">
            <a:solidFill>
              <a:srgbClr val="29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371600" y="2439619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💰  매출은 성장하고 있는가?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1097280" y="3542607"/>
            <a:ext cx="7315200" cy="822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25400" cap="flat" cmpd="sng">
            <a:solidFill>
              <a:srgbClr val="29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371600" y="3771207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🔄  고객들은 다시 찾아오고 있는가?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1097280" y="4874195"/>
            <a:ext cx="7315200" cy="822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25400" cap="flat" cmpd="sng">
            <a:solidFill>
              <a:srgbClr val="29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371600" y="5102795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👥  회원을 잘 확보하고 있는가?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6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731520" y="565099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데이터 요약 및 전처리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731520" y="1205179"/>
            <a:ext cx="1371600" cy="4572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3"/>
          <p:cNvGraphicFramePr/>
          <p:nvPr/>
        </p:nvGraphicFramePr>
        <p:xfrm>
          <a:off x="509338" y="1502272"/>
          <a:ext cx="8554875" cy="4763568"/>
        </p:xfrm>
        <a:graphic>
          <a:graphicData uri="http://schemas.openxmlformats.org/drawingml/2006/table">
            <a:tbl>
              <a:tblPr>
                <a:noFill/>
                <a:tableStyleId>{0803B61D-0873-4579-B5E7-00D1F80F27E1}</a:tableStyleId>
              </a:tblPr>
              <a:tblGrid>
                <a:gridCol w="49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3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1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3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컬럼명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정의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타입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값 예시 및 분포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고유 개수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NULL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 (전처리 규칙 및 참고사항)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0:6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InvoiceNo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거래 번호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STRING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53635, 53636, C536579,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A563158(A로시작 매우 적음)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25,900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C(거래취소) 라서 뺀다.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1:6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StockCode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 번호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STRING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85123A, 71053, 84406B, 84029G…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4,070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2:6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 명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STRING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JAM MAKING SET PRINTED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4,223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1454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3:6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Quantity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거래 수량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INTEGER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최솟값: -80995, 평균: 9.55,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중앙값: 3.0, 최댓값: 80995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722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최대값, 음수 삭제,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최대값은주문 후 취소한 경우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4:6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InvoiceDate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거래 일시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TIMESTAMP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최소 : 2010-12-01 08:26:00 UTC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최대 : 2011-12-09 12:50:00 UTC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23,260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5:6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UnitPrice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거래 단가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FLOAT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최솟값: -11062, 평균: 4.61,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중앙값: 2.08, 최댓값: 38970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1,630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음수 제외, 두건인데 모두 거래번호 A로 특이사항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6:6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CustomerID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 번호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INTEGER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14533, 17888, 17850 …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4,372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135080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널은 비회원으로 추정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7:6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Country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국가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STRING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United Kingdom, Australia, Germany …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38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영국이 90%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12:8:6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6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731520" y="565099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서비스 성장성 분석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731520" y="1205179"/>
            <a:ext cx="1371600" cy="4572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31525" y="1440150"/>
            <a:ext cx="2327700" cy="65400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254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5" dist="23003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50" tIns="45700" rIns="914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809233" y="1440157"/>
            <a:ext cx="2251502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전년 대비 12월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일평균 매출</a:t>
            </a:r>
            <a:endParaRPr sz="1400"/>
          </a:p>
        </p:txBody>
      </p:sp>
      <p:sp>
        <p:nvSpPr>
          <p:cNvPr id="123" name="Google Shape;123;p4"/>
          <p:cNvSpPr txBox="1"/>
          <p:nvPr/>
        </p:nvSpPr>
        <p:spPr>
          <a:xfrm>
            <a:off x="860480" y="1521282"/>
            <a:ext cx="196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+95%</a:t>
            </a:r>
            <a:endParaRPr sz="1400" dirty="0"/>
          </a:p>
        </p:txBody>
      </p:sp>
      <p:sp>
        <p:nvSpPr>
          <p:cNvPr id="124" name="Google Shape;124;p4"/>
          <p:cNvSpPr txBox="1"/>
          <p:nvPr/>
        </p:nvSpPr>
        <p:spPr>
          <a:xfrm>
            <a:off x="914379" y="2283400"/>
            <a:ext cx="1962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12월 기준 전년 대비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408625" y="1440150"/>
            <a:ext cx="2327700" cy="65400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254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5" dist="23003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50" tIns="45700" rIns="914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3576712" y="1451415"/>
            <a:ext cx="2300607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전년</a:t>
            </a:r>
            <a:r>
              <a:rPr lang="en-US" sz="120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대비</a:t>
            </a:r>
            <a:r>
              <a:rPr lang="en-US" sz="120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12월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일평균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고객수</a:t>
            </a:r>
            <a:endParaRPr sz="1400" dirty="0"/>
          </a:p>
        </p:txBody>
      </p:sp>
      <p:sp>
        <p:nvSpPr>
          <p:cNvPr id="127" name="Google Shape;127;p4"/>
          <p:cNvSpPr txBox="1"/>
          <p:nvPr/>
        </p:nvSpPr>
        <p:spPr>
          <a:xfrm>
            <a:off x="3549620" y="1540122"/>
            <a:ext cx="196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+100%</a:t>
            </a:r>
            <a:endParaRPr sz="1400" dirty="0"/>
          </a:p>
        </p:txBody>
      </p:sp>
      <p:sp>
        <p:nvSpPr>
          <p:cNvPr id="128" name="Google Shape;128;p4"/>
          <p:cNvSpPr/>
          <p:nvPr/>
        </p:nvSpPr>
        <p:spPr>
          <a:xfrm>
            <a:off x="6085726" y="1440150"/>
            <a:ext cx="2327700" cy="65400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254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5" dist="23003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50" tIns="45700" rIns="914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6150128" y="1466227"/>
            <a:ext cx="2194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전년 대비 12월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일평균 거래건수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6268629" y="1554936"/>
            <a:ext cx="196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+81%</a:t>
            </a:r>
            <a:endParaRPr sz="1400"/>
          </a:p>
        </p:txBody>
      </p:sp>
      <p:sp>
        <p:nvSpPr>
          <p:cNvPr id="131" name="Google Shape;131;p4"/>
          <p:cNvSpPr/>
          <p:nvPr/>
        </p:nvSpPr>
        <p:spPr>
          <a:xfrm>
            <a:off x="781854" y="5623560"/>
            <a:ext cx="7680960" cy="10515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1147614" y="5806440"/>
            <a:ext cx="6949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📈 Key Insight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계절별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패턴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평균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매출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고객수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거래건수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모두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9월부터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크게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→ 11~12월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정점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도달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서비스가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급격히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성장하고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있으나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연말에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급증할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선물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수요를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준비해야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하는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도매업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4" title="차트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987" y="2245575"/>
            <a:ext cx="6613074" cy="34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6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731520" y="565099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재구매 고객 분석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731520" y="1205179"/>
            <a:ext cx="1371600" cy="4572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31525" y="1456000"/>
            <a:ext cx="3686400" cy="12801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254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1005840" y="1550017"/>
            <a:ext cx="39828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🔍 발견사항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12월 신규 고객은 높은 재구매율</a:t>
            </a:r>
            <a:endParaRPr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동절기 유입 고객은 여름 시즌 재구매율 낮음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봄~여름 유입 고객은 낮은 재구매율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612130" y="1456010"/>
            <a:ext cx="2800349" cy="128016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254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5886450" y="1638890"/>
            <a:ext cx="22518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💡 개선 제안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하절기 대규모 프로모션 실시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봄-여름 유입 고객 특화 마케팅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5"/>
          <p:cNvGraphicFramePr/>
          <p:nvPr/>
        </p:nvGraphicFramePr>
        <p:xfrm>
          <a:off x="420471" y="2882081"/>
          <a:ext cx="8675450" cy="3817038"/>
        </p:xfrm>
        <a:graphic>
          <a:graphicData uri="http://schemas.openxmlformats.org/drawingml/2006/table">
            <a:tbl>
              <a:tblPr>
                <a:noFill/>
                <a:tableStyleId>{0803B61D-0873-4579-B5E7-00D1F80F27E1}</a:tableStyleId>
              </a:tblPr>
              <a:tblGrid>
                <a:gridCol w="78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08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47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0:1"/>
                      </a:ext>
                    </a:extLst>
                  </a:tcPr>
                </a:tc>
                <a:tc gridSpan="1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첫 구매 이후 재구매율</a:t>
                      </a:r>
                      <a:endParaRPr sz="18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0:2"/>
                      </a:ext>
                    </a:extLst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0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i="1"/>
                        <a:t>.</a:t>
                      </a:r>
                      <a:endParaRPr sz="1000" i="1"/>
                    </a:p>
                  </a:txBody>
                  <a:tcPr marL="28575" marR="28575" marT="19050" marB="19050" anchor="b"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i="1"/>
                        <a:t>구매후 경과 月</a:t>
                      </a:r>
                      <a:endParaRPr sz="1000" i="1"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i="1"/>
                        <a:t>거래년월</a:t>
                      </a:r>
                      <a:endParaRPr sz="1000" i="1"/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i="1"/>
                        <a:t>신규유입 고객수</a:t>
                      </a:r>
                      <a:endParaRPr sz="1000" i="1"/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E4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+0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93B3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+1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+2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4B3E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+3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5347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+4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5C50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+5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6459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+6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6C62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+7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756B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+8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7D7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+9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867D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+10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8E86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+11 개월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B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968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2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32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2010-12</a:t>
                      </a:r>
                      <a:endParaRPr sz="1000"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885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36.61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3C4FA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32.32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D7F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38.42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BBF9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36.27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C5FA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39.77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B5F9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36.27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C5FA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34.92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FCBFB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35.37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C9FB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39.55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B6F9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37.4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DC0FA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50.28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7700" cap="flat" cmpd="sng">
                      <a:solidFill>
                        <a:srgbClr val="8093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285F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🟥낮음</a:t>
                      </a:r>
                      <a:endParaRPr sz="1000"/>
                    </a:p>
                  </a:txBody>
                  <a:tcPr marL="28575" marR="28575" marT="19050" marB="19050" anchor="b"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3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1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2011-01</a:t>
                      </a:r>
                      <a:endParaRPr sz="1000"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416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22.12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4F3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26.68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E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23.08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CF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32.21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D8F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28.85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7FD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24.76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9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24.28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C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30.05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1FD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32.69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5F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36.54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3C4FA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⬜중간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4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1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2011-02</a:t>
                      </a:r>
                      <a:endParaRPr sz="1000"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380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18.68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7D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18.68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7D4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28.42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9FD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27.11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E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24.74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9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25.26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7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27.89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BFE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24.74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9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30.53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DFFD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🟦높음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5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1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2011-03</a:t>
                      </a:r>
                      <a:endParaRPr sz="1000"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452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15.04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B8B3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25.22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19.91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1D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22.35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6F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16.81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7C3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26.77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23.01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BFB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27.88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BFE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6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1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2011-04</a:t>
                      </a:r>
                      <a:endParaRPr sz="1000"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21.33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DE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20.33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E3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E9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19.67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FDD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22.67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21.67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0E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26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E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7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1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2011-05</a:t>
                      </a:r>
                      <a:endParaRPr sz="1000"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284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19.01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AD7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17.25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C7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17.25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C7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20.77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7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23.24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DFD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26.41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2FE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8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1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2011-06</a:t>
                      </a:r>
                      <a:endParaRPr sz="1000"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242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17.36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CC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15.7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BEB9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26.45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2FE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23.14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CFC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33.47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9D2FB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9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91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2011-07</a:t>
                      </a:r>
                      <a:endParaRPr sz="1000"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188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18.09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D2C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20.74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6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22.34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F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27.13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E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0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91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2011-08</a:t>
                      </a:r>
                      <a:endParaRPr sz="1000"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169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20.71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6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24.85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24.26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C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1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91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2011-09</a:t>
                      </a:r>
                      <a:endParaRPr sz="1000"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299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23.41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30.1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1FD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2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91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2011-10</a:t>
                      </a:r>
                      <a:endParaRPr sz="1000"/>
                    </a:p>
                  </a:txBody>
                  <a:tcPr marL="28575" marR="28575" marT="19050" marB="19050" anchor="b">
                    <a:lnR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358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4F6F8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24.02</a:t>
                      </a:r>
                      <a:endParaRPr sz="1000"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D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6:13:14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31;p4">
            <a:extLst>
              <a:ext uri="{FF2B5EF4-FFF2-40B4-BE49-F238E27FC236}">
                <a16:creationId xmlns:a16="http://schemas.microsoft.com/office/drawing/2014/main" id="{BB8CBA6C-6280-699C-59A0-4CDB1916B4F4}"/>
              </a:ext>
            </a:extLst>
          </p:cNvPr>
          <p:cNvSpPr/>
          <p:nvPr/>
        </p:nvSpPr>
        <p:spPr>
          <a:xfrm>
            <a:off x="781854" y="5710153"/>
            <a:ext cx="7680960" cy="10515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6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0" y="0"/>
            <a:ext cx="174900" cy="685800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731520" y="565099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비회원 고객 분석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731520" y="1205179"/>
            <a:ext cx="1371600" cy="4572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731550" y="1405401"/>
            <a:ext cx="3873000" cy="7128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23775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  <a:effectLst>
            <a:outerShdw blurRad="37422" dist="21517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85525" tIns="42750" rIns="85525" bIns="42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8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1021327" y="1446521"/>
            <a:ext cx="32937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25" tIns="42750" rIns="85525" bIns="427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9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비회원 거래 비중</a:t>
            </a:r>
            <a:endParaRPr sz="1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1021393" y="1586902"/>
            <a:ext cx="32937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25" tIns="42750" rIns="85525" bIns="427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sz="1309"/>
          </a:p>
        </p:txBody>
      </p:sp>
      <p:sp>
        <p:nvSpPr>
          <p:cNvPr id="158" name="Google Shape;158;p6"/>
          <p:cNvSpPr/>
          <p:nvPr/>
        </p:nvSpPr>
        <p:spPr>
          <a:xfrm>
            <a:off x="4973892" y="1386761"/>
            <a:ext cx="3873000" cy="712800"/>
          </a:xfrm>
          <a:prstGeom prst="roundRect">
            <a:avLst>
              <a:gd name="adj" fmla="val 16667"/>
            </a:avLst>
          </a:prstGeom>
          <a:solidFill>
            <a:srgbClr val="FCE7F3"/>
          </a:solidFill>
          <a:ln w="23775" cap="flat" cmpd="sng">
            <a:solidFill>
              <a:srgbClr val="EC4899"/>
            </a:solidFill>
            <a:prstDash val="solid"/>
            <a:round/>
            <a:headEnd type="none" w="sm" len="sm"/>
            <a:tailEnd type="none" w="sm" len="sm"/>
          </a:ln>
          <a:effectLst>
            <a:outerShdw blurRad="37422" dist="21517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85525" tIns="42750" rIns="85525" bIns="42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8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5406147" y="1405414"/>
            <a:ext cx="311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비회원 매출 추세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5351750" y="1599221"/>
            <a:ext cx="31173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25" tIns="42750" rIns="85525" bIns="427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 b="1" i="0" u="none" strike="noStrike" cap="non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↗️ 11월 부터 급상승</a:t>
            </a:r>
            <a:endParaRPr sz="1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1147584" y="5835733"/>
            <a:ext cx="6949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🎯 </a:t>
            </a:r>
            <a:r>
              <a:rPr lang="en-US" sz="1400" b="1" i="0" u="none" strike="noStrike" cap="none" dirty="0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최종</a:t>
            </a:r>
            <a:r>
              <a:rPr lang="en-US" sz="1400" b="1" i="0" u="none" strike="noStrike" cap="none" dirty="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제안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연말부터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고액의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비회원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거래가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많으므로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회원가입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유도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전략을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통한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잠재고객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확보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회원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전환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인센티브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제공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간소화된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가입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프로세스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맞춤형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혜택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제안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6" title="차트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20" y="2251520"/>
            <a:ext cx="8189424" cy="354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화면 슬라이드 쇼(4:3)</PresentationFormat>
  <Paragraphs>226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Soosung Lee</dc:creator>
  <cp:lastModifiedBy>Lee Soosung</cp:lastModifiedBy>
  <cp:revision>1</cp:revision>
  <dcterms:created xsi:type="dcterms:W3CDTF">2013-01-27T09:14:16Z</dcterms:created>
  <dcterms:modified xsi:type="dcterms:W3CDTF">2025-11-19T12:29:46Z</dcterms:modified>
</cp:coreProperties>
</file>